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4"/>
  </p:notesMasterIdLst>
  <p:handoutMasterIdLst>
    <p:handoutMasterId r:id="rId15"/>
  </p:handoutMasterIdLst>
  <p:sldIdLst>
    <p:sldId id="410" r:id="rId5"/>
    <p:sldId id="383" r:id="rId6"/>
    <p:sldId id="391" r:id="rId7"/>
    <p:sldId id="411" r:id="rId8"/>
    <p:sldId id="412" r:id="rId9"/>
    <p:sldId id="414" r:id="rId10"/>
    <p:sldId id="413" r:id="rId11"/>
    <p:sldId id="415" r:id="rId12"/>
    <p:sldId id="41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8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9978A-5C60-F551-36C9-FAF4FC8C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0AB085-655D-73CF-E83E-4F9F0F00E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F5CD9-1D8A-F7BE-728A-7FA4F3C0D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D088B-E1CB-089B-AB77-174EAF0D3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55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528E-5BB6-BD84-0477-E2E014A7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9370D-EFC2-8919-58FD-414C5488C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94FAF-FB02-F4FD-B81A-F3F9C7B8E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BB669-C05B-F171-647B-C6972AAE1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249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81FCC-DF8C-7672-628B-8391F6C5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8C42A-FD49-255B-9990-2AA86C022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6781E-A479-6C9A-487E-8C5B22E34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52420-CD37-D58C-53C7-2CFE25D62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305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9829-7907-DDC3-D951-7CC45BCC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91190-5070-EF96-4E7D-6FEE2B820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13B01-AB2E-5BCF-4D74-6699920D2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8A647-713B-39AA-4705-3AC3A07A9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853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E62B-CC83-ED21-B012-200B32BAA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C9934-94B2-08C8-A8A9-E99DDA5C6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F1674-9AF1-9363-A023-2604E2F8A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C98E4-55C8-B7B4-CC90-519C9406D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28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CCD0-1059-2DF4-80B0-FC78833A1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ADA51-0D71-A1A3-4807-940B4B1C9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43A7D-DEF0-35B3-37CB-EA3CA8D33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B1833-A03D-D618-B461-918A84D9A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67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0662" y="411479"/>
            <a:ext cx="8075642" cy="3291840"/>
          </a:xfrm>
        </p:spPr>
        <p:txBody>
          <a:bodyPr/>
          <a:lstStyle/>
          <a:p>
            <a:r>
              <a:rPr lang="en-US" dirty="0"/>
              <a:t>Machine Learning - Regression Algorithms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Ada Boost Algorithm</a:t>
            </a:r>
          </a:p>
          <a:p>
            <a:r>
              <a:rPr lang="en-US" dirty="0"/>
              <a:t>XG Boosting Algorithm</a:t>
            </a:r>
          </a:p>
          <a:p>
            <a:r>
              <a:rPr lang="en-US" dirty="0"/>
              <a:t>LG Boosting Algorithm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Ada Boost Algorithm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AdaBoost regressor is a meta-estimator</a:t>
            </a:r>
          </a:p>
          <a:p>
            <a:r>
              <a:rPr lang="en-US" dirty="0"/>
              <a:t>It begins by fitting a regressor on the original dataset</a:t>
            </a:r>
          </a:p>
          <a:p>
            <a:r>
              <a:rPr lang="en-US" dirty="0"/>
              <a:t>It fits additional copies of the regressor on the same dataset</a:t>
            </a:r>
          </a:p>
          <a:p>
            <a:r>
              <a:rPr lang="en-US" dirty="0"/>
              <a:t>weights of instances are adjusted according to the error of the current prediction</a:t>
            </a:r>
          </a:p>
          <a:p>
            <a:r>
              <a:rPr lang="en-US" u="sng" dirty="0"/>
              <a:t>Procedure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	from</a:t>
            </a:r>
            <a:r>
              <a:rPr lang="en-US" dirty="0"/>
              <a:t> </a:t>
            </a:r>
            <a:r>
              <a:rPr lang="en-US" dirty="0" err="1"/>
              <a:t>sklearn.ensemble</a:t>
            </a:r>
            <a:r>
              <a:rPr lang="en-US" dirty="0"/>
              <a:t> </a:t>
            </a: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AdaBoostRegressor</a:t>
            </a:r>
            <a:endParaRPr lang="en-US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regr</a:t>
            </a:r>
            <a:r>
              <a:rPr lang="en-CA" dirty="0"/>
              <a:t> </a:t>
            </a:r>
            <a:r>
              <a:rPr lang="en-CA" b="1" dirty="0"/>
              <a:t>=</a:t>
            </a:r>
            <a:r>
              <a:rPr lang="en-CA" dirty="0"/>
              <a:t> </a:t>
            </a:r>
            <a:r>
              <a:rPr lang="en-CA" dirty="0" err="1"/>
              <a:t>AdaBoostRegressor</a:t>
            </a:r>
            <a:r>
              <a:rPr lang="en-CA" b="1" dirty="0"/>
              <a:t>(</a:t>
            </a:r>
            <a:r>
              <a:rPr lang="en-CA" dirty="0" err="1"/>
              <a:t>random_state</a:t>
            </a:r>
            <a:r>
              <a:rPr lang="en-CA" b="1" dirty="0"/>
              <a:t>=0,</a:t>
            </a:r>
            <a:r>
              <a:rPr lang="en-CA" dirty="0"/>
              <a:t> </a:t>
            </a:r>
            <a:r>
              <a:rPr lang="en-CA" dirty="0" err="1"/>
              <a:t>n_estimators</a:t>
            </a:r>
            <a:r>
              <a:rPr lang="en-CA" b="1" dirty="0"/>
              <a:t>=100)</a:t>
            </a:r>
            <a:endParaRPr lang="en-CA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53876-8569-2F58-293F-C2EE8860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EEDBAB-1EEA-9415-8C72-D9246F4E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Ada Boost Algorithm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B93988-559A-5783-7A51-9A77CBF66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0EF241-6DEA-BCE8-52EF-7B36D05EF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2992F00-0F01-B9D7-E618-2A22B2F0B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3EFF164-2609-29A4-E9F7-79802951E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80595AF-114D-0046-0D03-272512B38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154" y="1783080"/>
            <a:ext cx="6906589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0EF6-23C2-0B2A-D4D8-4421A3D8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68DBC-4822-621C-D681-3EBD2884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XG Boosting Algorithm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BE355B-3B0B-EA26-B4A4-3355455DA9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599" y="2281238"/>
            <a:ext cx="8098971" cy="3700462"/>
          </a:xfrm>
        </p:spPr>
        <p:txBody>
          <a:bodyPr>
            <a:normAutofit/>
          </a:bodyPr>
          <a:lstStyle/>
          <a:p>
            <a:r>
              <a:rPr lang="en-US" b="1" dirty="0" err="1"/>
              <a:t>XGBoost</a:t>
            </a:r>
            <a:r>
              <a:rPr lang="en-US" dirty="0"/>
              <a:t> is an optimized distributed Gradient Boosting Library</a:t>
            </a:r>
          </a:p>
          <a:p>
            <a:r>
              <a:rPr lang="en-US" dirty="0"/>
              <a:t>it solve many data science problems in a fast and accurate way.</a:t>
            </a:r>
          </a:p>
          <a:p>
            <a:r>
              <a:rPr lang="en-US" dirty="0"/>
              <a:t>Building an ensemble of decision trees sequentially where each new tree corrects the errors made by the previous one.</a:t>
            </a:r>
          </a:p>
          <a:p>
            <a:r>
              <a:rPr lang="en-US" u="sng" dirty="0"/>
              <a:t>Procedure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CA" b="1" dirty="0"/>
              <a:t>	from</a:t>
            </a:r>
            <a:r>
              <a:rPr lang="en-CA" dirty="0"/>
              <a:t> </a:t>
            </a:r>
            <a:r>
              <a:rPr lang="en-CA" b="1" dirty="0" err="1"/>
              <a:t>xgboost</a:t>
            </a:r>
            <a:r>
              <a:rPr lang="en-CA" dirty="0"/>
              <a:t> </a:t>
            </a:r>
            <a:r>
              <a:rPr lang="en-CA" b="1" dirty="0"/>
              <a:t>import</a:t>
            </a:r>
            <a:r>
              <a:rPr lang="en-CA" dirty="0"/>
              <a:t> </a:t>
            </a:r>
            <a:r>
              <a:rPr lang="en-CA" dirty="0" err="1"/>
              <a:t>XGBClassifier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bst</a:t>
            </a:r>
            <a:r>
              <a:rPr lang="en-CA" dirty="0"/>
              <a:t> = </a:t>
            </a:r>
            <a:r>
              <a:rPr lang="en-CA" dirty="0" err="1"/>
              <a:t>XGBClassifier</a:t>
            </a:r>
            <a:r>
              <a:rPr lang="en-CA" dirty="0"/>
              <a:t>(</a:t>
            </a:r>
            <a:r>
              <a:rPr lang="en-CA" dirty="0" err="1"/>
              <a:t>n_estimators</a:t>
            </a:r>
            <a:r>
              <a:rPr lang="en-CA" dirty="0"/>
              <a:t>=2, </a:t>
            </a:r>
            <a:r>
              <a:rPr lang="en-CA" dirty="0" err="1"/>
              <a:t>max_depth</a:t>
            </a:r>
            <a:r>
              <a:rPr lang="en-CA" dirty="0"/>
              <a:t>=2, 	</a:t>
            </a:r>
            <a:r>
              <a:rPr lang="en-CA" dirty="0" err="1"/>
              <a:t>learning_rate</a:t>
            </a:r>
            <a:r>
              <a:rPr lang="en-CA" dirty="0"/>
              <a:t>=1, objective='</a:t>
            </a:r>
            <a:r>
              <a:rPr lang="en-CA" dirty="0" err="1"/>
              <a:t>binary:logistic</a:t>
            </a:r>
            <a:r>
              <a:rPr lang="en-CA" dirty="0"/>
              <a:t>')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3EDE4F-6043-ED84-FAC6-6252A3F2B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F6E8BD6-5679-31A4-9D2A-F6A2A8A2A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9A0A169-23A2-356A-2D5F-1E2862E9F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18E6E92-8795-CF4E-9A72-E24180D55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8897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C620-6D0E-3E5A-39EA-B51F2AFF4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575C75-E311-742D-3AE5-5D032531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XG Boosting Algorithm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95B729-40C3-6FA7-F71C-42AF03D2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3817AB7-336C-26FC-8589-2592FEF0D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6ADADF5-8C58-9A2C-2E67-C3AE7DF5D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BB3FFF5-BD7F-3CCD-EFE7-3E33B590F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7DDEAE9-0658-DE33-7CA3-0F43371E3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244" y="1885256"/>
            <a:ext cx="532521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6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19135-7642-8DDC-C767-B83859AB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EE369D-A2B7-6B7D-ED50-6F25E53C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LG Boosting Algorithm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756249-94DC-2CE5-86C9-33CC4FD1EB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127380"/>
            <a:ext cx="7810500" cy="4627745"/>
          </a:xfrm>
        </p:spPr>
        <p:txBody>
          <a:bodyPr>
            <a:normAutofit/>
          </a:bodyPr>
          <a:lstStyle/>
          <a:p>
            <a:r>
              <a:rPr lang="en-US" b="1" dirty="0"/>
              <a:t>LG Boosting</a:t>
            </a:r>
            <a:r>
              <a:rPr lang="en-US" dirty="0"/>
              <a:t> (OR) Light Gradient Boosting Machine (OR) </a:t>
            </a:r>
            <a:r>
              <a:rPr lang="en-US" dirty="0" err="1"/>
              <a:t>LightGBM</a:t>
            </a:r>
            <a:r>
              <a:rPr lang="en-US" dirty="0"/>
              <a:t> </a:t>
            </a:r>
          </a:p>
          <a:p>
            <a:r>
              <a:rPr lang="en-US" dirty="0"/>
              <a:t>It is an ensemble learning framework that uses gradient boosting,  It’s a Decision tree structure used to predict outcomes</a:t>
            </a:r>
          </a:p>
          <a:p>
            <a:r>
              <a:rPr lang="en-US" dirty="0"/>
              <a:t>It constructs a strong learner by sequentially adding weak learners in a gradient descent manner.</a:t>
            </a:r>
          </a:p>
          <a:p>
            <a:r>
              <a:rPr lang="en-US" dirty="0"/>
              <a:t>It's designed for efficiency, scalability and high accuracy particularly with large datasets.</a:t>
            </a:r>
          </a:p>
          <a:p>
            <a:r>
              <a:rPr lang="en-CA" u="sng" dirty="0"/>
              <a:t>Procedure:</a:t>
            </a:r>
          </a:p>
          <a:p>
            <a:pPr marL="0" indent="0">
              <a:buNone/>
            </a:pPr>
            <a:r>
              <a:rPr lang="en-CA" dirty="0"/>
              <a:t>	from </a:t>
            </a:r>
            <a:r>
              <a:rPr lang="en-CA" dirty="0" err="1"/>
              <a:t>lightgbm</a:t>
            </a:r>
            <a:r>
              <a:rPr lang="en-CA" dirty="0"/>
              <a:t> import </a:t>
            </a:r>
            <a:r>
              <a:rPr lang="en-CA" dirty="0" err="1"/>
              <a:t>LGBMClassifier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dirty="0" err="1"/>
              <a:t>lgbm_model</a:t>
            </a:r>
            <a:r>
              <a:rPr lang="en-CA" dirty="0"/>
              <a:t> = </a:t>
            </a:r>
            <a:r>
              <a:rPr lang="en-CA" dirty="0" err="1"/>
              <a:t>LGBMClassifier</a:t>
            </a:r>
            <a:r>
              <a:rPr lang="en-CA" dirty="0"/>
              <a:t>(</a:t>
            </a:r>
            <a:r>
              <a:rPr lang="en-CA" dirty="0" err="1"/>
              <a:t>random_state</a:t>
            </a:r>
            <a:r>
              <a:rPr lang="en-CA" dirty="0"/>
              <a:t>=42, verbosity=-1)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16C837-694F-9C55-0B9A-6CCD43A2D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BA0C4F3-E2AE-84E0-D6DE-599281694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06E791E-8E71-B768-ADE7-DC37ADFEC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721567A-8CB0-E566-0F4C-7101FFEC0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31914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6AD8-BF53-2DDD-3858-2D4B9874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168EEC-E7D2-DAEC-1D9A-0DFB294A7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LG Boosting Algorithm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15B18EE-0D6B-A2A5-4D25-ED4B7F136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3FD898B-B1C9-FEAE-97D2-DB2250841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861F6BF-E204-EC65-6246-91B9EEB50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A223B6A-4405-4293-1E5F-777BE7E0B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EAD3EC-6082-5D8B-BA9C-6419E35D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609" y="2322237"/>
            <a:ext cx="7554379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77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7D14-6B91-06D6-CE72-1A90B183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7DC5-C8BD-E776-CB0D-6895E0E25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0662" y="411479"/>
            <a:ext cx="8075642" cy="3291840"/>
          </a:xfrm>
        </p:spPr>
        <p:txBody>
          <a:bodyPr/>
          <a:lstStyle/>
          <a:p>
            <a:pPr algn="ctr"/>
            <a:r>
              <a:rPr lang="en-US" dirty="0"/>
              <a:t>Thank You...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3177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174</TotalTime>
  <Words>278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Wingdings</vt:lpstr>
      <vt:lpstr>Custom</vt:lpstr>
      <vt:lpstr>Machine Learning - Regression Algorithms</vt:lpstr>
      <vt:lpstr>Agenda</vt:lpstr>
      <vt:lpstr>Ada Boost Algorithm</vt:lpstr>
      <vt:lpstr>Ada Boost Algorithm</vt:lpstr>
      <vt:lpstr>XG Boosting Algorithm</vt:lpstr>
      <vt:lpstr>XG Boosting Algorithm</vt:lpstr>
      <vt:lpstr>LG Boosting Algorithm</vt:lpstr>
      <vt:lpstr>LG Boosting Algorithm</vt:lpstr>
      <vt:lpstr>Thank You...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Kumar S</dc:creator>
  <cp:lastModifiedBy>Mohan Kumar S</cp:lastModifiedBy>
  <cp:revision>9</cp:revision>
  <dcterms:created xsi:type="dcterms:W3CDTF">2026-02-08T14:07:10Z</dcterms:created>
  <dcterms:modified xsi:type="dcterms:W3CDTF">2026-02-09T17:19:40Z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